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DM Sans Bold" charset="1" panose="00000000000000000000"/>
      <p:regular r:id="rId18"/>
    </p:embeddedFont>
    <p:embeddedFont>
      <p:font typeface="Aptos" charset="1" panose="020B0004020202020204"/>
      <p:regular r:id="rId19"/>
    </p:embeddedFont>
    <p:embeddedFont>
      <p:font typeface="DM Sans" charset="1" panose="00000000000000000000"/>
      <p:regular r:id="rId20"/>
    </p:embeddedFont>
    <p:embeddedFont>
      <p:font typeface="Lexend Deca" charset="1" panose="00000000000000000000"/>
      <p:regular r:id="rId21"/>
    </p:embeddedFont>
    <p:embeddedFont>
      <p:font typeface="TT Interphases Bold" charset="1" panose="02000803060000020004"/>
      <p:regular r:id="rId22"/>
    </p:embeddedFont>
    <p:embeddedFont>
      <p:font typeface="TT Interphases" charset="1" panose="0200050302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png" Type="http://schemas.openxmlformats.org/officeDocument/2006/relationships/image"/><Relationship Id="rId2" Target="../media/image3.png" Type="http://schemas.openxmlformats.org/officeDocument/2006/relationships/image"/><Relationship Id="rId20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35.png" Type="http://schemas.openxmlformats.org/officeDocument/2006/relationships/image"/><Relationship Id="rId17" Target="../media/image36.png" Type="http://schemas.openxmlformats.org/officeDocument/2006/relationships/image"/><Relationship Id="rId18" Target="../media/image37.png" Type="http://schemas.openxmlformats.org/officeDocument/2006/relationships/image"/><Relationship Id="rId19" Target="../media/image38.png" Type="http://schemas.openxmlformats.org/officeDocument/2006/relationships/image"/><Relationship Id="rId2" Target="../media/image21.png" Type="http://schemas.openxmlformats.org/officeDocument/2006/relationships/image"/><Relationship Id="rId20" Target="../media/image39.png" Type="http://schemas.openxmlformats.org/officeDocument/2006/relationships/image"/><Relationship Id="rId21" Target="../media/image40.png" Type="http://schemas.openxmlformats.org/officeDocument/2006/relationships/image"/><Relationship Id="rId22" Target="../media/image41.png" Type="http://schemas.openxmlformats.org/officeDocument/2006/relationships/image"/><Relationship Id="rId23" Target="../media/image42.png" Type="http://schemas.openxmlformats.org/officeDocument/2006/relationships/image"/><Relationship Id="rId24" Target="../media/image43.png" Type="http://schemas.openxmlformats.org/officeDocument/2006/relationships/image"/><Relationship Id="rId25" Target="../media/image44.png" Type="http://schemas.openxmlformats.org/officeDocument/2006/relationships/image"/><Relationship Id="rId26" Target="../media/image45.png" Type="http://schemas.openxmlformats.org/officeDocument/2006/relationships/image"/><Relationship Id="rId27" Target="../media/image46.png" Type="http://schemas.openxmlformats.org/officeDocument/2006/relationships/image"/><Relationship Id="rId28" Target="../media/image47.png" Type="http://schemas.openxmlformats.org/officeDocument/2006/relationships/image"/><Relationship Id="rId29" Target="../media/image48.png" Type="http://schemas.openxmlformats.org/officeDocument/2006/relationships/image"/><Relationship Id="rId3" Target="../media/image22.png" Type="http://schemas.openxmlformats.org/officeDocument/2006/relationships/image"/><Relationship Id="rId30" Target="../media/image49.png" Type="http://schemas.openxmlformats.org/officeDocument/2006/relationships/image"/><Relationship Id="rId31" Target="../media/image50.png" Type="http://schemas.openxmlformats.org/officeDocument/2006/relationships/image"/><Relationship Id="rId32" Target="../media/image51.png" Type="http://schemas.openxmlformats.org/officeDocument/2006/relationships/image"/><Relationship Id="rId33" Target="../media/image52.png" Type="http://schemas.openxmlformats.org/officeDocument/2006/relationships/image"/><Relationship Id="rId34" Target="../media/image53.png" Type="http://schemas.openxmlformats.org/officeDocument/2006/relationships/image"/><Relationship Id="rId35" Target="../media/image54.png" Type="http://schemas.openxmlformats.org/officeDocument/2006/relationships/image"/><Relationship Id="rId36" Target="../media/image4.png" Type="http://schemas.openxmlformats.org/officeDocument/2006/relationships/image"/><Relationship Id="rId37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18" Target="../media/image71.png" Type="http://schemas.openxmlformats.org/officeDocument/2006/relationships/image"/><Relationship Id="rId19" Target="../media/image72.png" Type="http://schemas.openxmlformats.org/officeDocument/2006/relationships/image"/><Relationship Id="rId2" Target="../media/image55.png" Type="http://schemas.openxmlformats.org/officeDocument/2006/relationships/image"/><Relationship Id="rId20" Target="../media/image73.png" Type="http://schemas.openxmlformats.org/officeDocument/2006/relationships/image"/><Relationship Id="rId21" Target="../media/image74.png" Type="http://schemas.openxmlformats.org/officeDocument/2006/relationships/image"/><Relationship Id="rId22" Target="../media/image75.png" Type="http://schemas.openxmlformats.org/officeDocument/2006/relationships/image"/><Relationship Id="rId23" Target="../media/image76.png" Type="http://schemas.openxmlformats.org/officeDocument/2006/relationships/image"/><Relationship Id="rId24" Target="../media/image77.png" Type="http://schemas.openxmlformats.org/officeDocument/2006/relationships/image"/><Relationship Id="rId25" Target="../media/image78.png" Type="http://schemas.openxmlformats.org/officeDocument/2006/relationships/image"/><Relationship Id="rId26" Target="../media/image79.png" Type="http://schemas.openxmlformats.org/officeDocument/2006/relationships/image"/><Relationship Id="rId27" Target="../media/image80.png" Type="http://schemas.openxmlformats.org/officeDocument/2006/relationships/image"/><Relationship Id="rId28" Target="../media/image81.png" Type="http://schemas.openxmlformats.org/officeDocument/2006/relationships/image"/><Relationship Id="rId29" Target="../media/image82.png" Type="http://schemas.openxmlformats.org/officeDocument/2006/relationships/image"/><Relationship Id="rId3" Target="../media/image56.png" Type="http://schemas.openxmlformats.org/officeDocument/2006/relationships/image"/><Relationship Id="rId30" Target="../media/image83.png" Type="http://schemas.openxmlformats.org/officeDocument/2006/relationships/image"/><Relationship Id="rId31" Target="../media/image84.png" Type="http://schemas.openxmlformats.org/officeDocument/2006/relationships/image"/><Relationship Id="rId32" Target="../media/image85.png" Type="http://schemas.openxmlformats.org/officeDocument/2006/relationships/image"/><Relationship Id="rId33" Target="../media/image86.png" Type="http://schemas.openxmlformats.org/officeDocument/2006/relationships/image"/><Relationship Id="rId34" Target="../media/image87.png" Type="http://schemas.openxmlformats.org/officeDocument/2006/relationships/image"/><Relationship Id="rId35" Target="../media/image88.png" Type="http://schemas.openxmlformats.org/officeDocument/2006/relationships/image"/><Relationship Id="rId36" Target="../media/image4.png" Type="http://schemas.openxmlformats.org/officeDocument/2006/relationships/image"/><Relationship Id="rId37" Target="../media/image2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0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3.png" Type="http://schemas.openxmlformats.org/officeDocument/2006/relationships/image"/><Relationship Id="rId7" Target="../media/image94.png" Type="http://schemas.openxmlformats.org/officeDocument/2006/relationships/image"/><Relationship Id="rId8" Target="../media/image4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98.png" Type="http://schemas.openxmlformats.org/officeDocument/2006/relationships/image"/><Relationship Id="rId6" Target="../media/image99.png" Type="http://schemas.openxmlformats.org/officeDocument/2006/relationships/image"/><Relationship Id="rId7" Target="../media/image4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4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497272" cy="10287000"/>
            <a:chOff x="0" y="0"/>
            <a:chExt cx="16663029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6302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663029">
                  <a:moveTo>
                    <a:pt x="0" y="0"/>
                  </a:moveTo>
                  <a:lnTo>
                    <a:pt x="16663029" y="0"/>
                  </a:lnTo>
                  <a:lnTo>
                    <a:pt x="16663029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DCE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663029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497272" y="0"/>
            <a:ext cx="5790728" cy="10287000"/>
            <a:chOff x="0" y="0"/>
            <a:chExt cx="897135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7135" cy="1593725"/>
            </a:xfrm>
            <a:custGeom>
              <a:avLst/>
              <a:gdLst/>
              <a:ahLst/>
              <a:cxnLst/>
              <a:rect r="r" b="b" t="t" l="l"/>
              <a:pathLst>
                <a:path h="1593725" w="897135">
                  <a:moveTo>
                    <a:pt x="0" y="0"/>
                  </a:moveTo>
                  <a:lnTo>
                    <a:pt x="897135" y="0"/>
                  </a:lnTo>
                  <a:lnTo>
                    <a:pt x="89713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9112" t="0" r="-3911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971550"/>
            <a:ext cx="66715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50" b="tru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MOBILE HEALTH • PROJECT REPORT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320058"/>
            <a:ext cx="11468572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5000" b="tru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 — Mobile Cardiovascular</a:t>
            </a:r>
          </a:p>
          <a:p>
            <a:pPr algn="ctr">
              <a:lnSpc>
                <a:spcPts val="5250"/>
              </a:lnSpc>
            </a:pPr>
            <a:r>
              <a:rPr lang="en-US" sz="5000" b="tru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Health Management</a:t>
            </a:r>
          </a:p>
          <a:p>
            <a:pPr algn="just">
              <a:lnSpc>
                <a:spcPts val="5250"/>
              </a:lnSpc>
            </a:pPr>
          </a:p>
          <a:p>
            <a:pPr algn="just">
              <a:lnSpc>
                <a:spcPts val="525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3843338"/>
            <a:ext cx="68580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b="true">
                <a:solidFill>
                  <a:srgbClr val="766871"/>
                </a:solidFill>
                <a:latin typeface="Aptos Bold"/>
                <a:ea typeface="Aptos Bold"/>
                <a:cs typeface="Aptos Bold"/>
                <a:sym typeface="Aptos Bold"/>
              </a:rPr>
              <a:t>CSE 430 — Project Mobile Report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800" y="4964906"/>
            <a:ext cx="7239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291C24"/>
                </a:solidFill>
                <a:latin typeface="Aptos Bold"/>
                <a:ea typeface="Aptos Bold"/>
                <a:cs typeface="Aptos Bold"/>
                <a:sym typeface="Aptos Bold"/>
              </a:rPr>
              <a:t>Nguyễn Hoàng Giang  •  2131200071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5915025"/>
            <a:ext cx="80772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b="true">
                <a:solidFill>
                  <a:srgbClr val="766871"/>
                </a:solidFill>
                <a:latin typeface="Aptos Bold"/>
                <a:ea typeface="Aptos Bold"/>
                <a:cs typeface="Aptos Bold"/>
                <a:sym typeface="Aptos Bold"/>
              </a:rPr>
              <a:t>Supervisors : Trần Văn Tài &amp; Nguyễn Hoàng Lý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743950"/>
            <a:ext cx="112173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50" b="tru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Eastern International University  —  August 2026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561975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02  HEARTHEALTH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987425"/>
            <a:ext cx="14287500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5600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The Global CVD Crisis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6800" y="2190750"/>
            <a:ext cx="3619500" cy="2857500"/>
            <a:chOff x="0" y="0"/>
            <a:chExt cx="4826000" cy="381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6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826000">
                  <a:moveTo>
                    <a:pt x="381000" y="0"/>
                  </a:moveTo>
                  <a:lnTo>
                    <a:pt x="4445000" y="0"/>
                  </a:lnTo>
                  <a:cubicBezTo>
                    <a:pt x="4655420" y="0"/>
                    <a:pt x="4826000" y="170580"/>
                    <a:pt x="4826000" y="381000"/>
                  </a:cubicBezTo>
                  <a:lnTo>
                    <a:pt x="4826000" y="3429000"/>
                  </a:lnTo>
                  <a:cubicBezTo>
                    <a:pt x="4826000" y="3639420"/>
                    <a:pt x="4655420" y="3810000"/>
                    <a:pt x="4445000" y="3810000"/>
                  </a:cubicBezTo>
                  <a:lnTo>
                    <a:pt x="381000" y="3810000"/>
                  </a:lnTo>
                  <a:cubicBezTo>
                    <a:pt x="170580" y="3810000"/>
                    <a:pt x="0" y="3639420"/>
                    <a:pt x="0" y="3429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5DC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26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57300" y="2895600"/>
            <a:ext cx="32385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>
                <a:solidFill>
                  <a:srgbClr val="9E3458"/>
                </a:solidFill>
                <a:latin typeface="DM Sans Bold"/>
                <a:ea typeface="DM Sans Bold"/>
                <a:cs typeface="DM Sans Bold"/>
                <a:sym typeface="DM Sans Bold"/>
              </a:rPr>
              <a:t>19.8M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4925" y="3867150"/>
            <a:ext cx="3143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91C24"/>
                </a:solidFill>
                <a:latin typeface="Aptos"/>
                <a:ea typeface="Aptos"/>
                <a:cs typeface="Aptos"/>
                <a:sym typeface="Aptos"/>
              </a:rPr>
              <a:t>deaths worldwide in 2022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067300" y="2190750"/>
            <a:ext cx="3619500" cy="2857500"/>
            <a:chOff x="0" y="0"/>
            <a:chExt cx="4826000" cy="381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826000">
                  <a:moveTo>
                    <a:pt x="381000" y="0"/>
                  </a:moveTo>
                  <a:lnTo>
                    <a:pt x="4445000" y="0"/>
                  </a:lnTo>
                  <a:cubicBezTo>
                    <a:pt x="4655420" y="0"/>
                    <a:pt x="4826000" y="170580"/>
                    <a:pt x="4826000" y="381000"/>
                  </a:cubicBezTo>
                  <a:lnTo>
                    <a:pt x="4826000" y="3429000"/>
                  </a:lnTo>
                  <a:cubicBezTo>
                    <a:pt x="4826000" y="3639420"/>
                    <a:pt x="4655420" y="3810000"/>
                    <a:pt x="4445000" y="3810000"/>
                  </a:cubicBezTo>
                  <a:lnTo>
                    <a:pt x="381000" y="3810000"/>
                  </a:lnTo>
                  <a:cubicBezTo>
                    <a:pt x="170580" y="3810000"/>
                    <a:pt x="0" y="3639420"/>
                    <a:pt x="0" y="3429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5DC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6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257800" y="2895600"/>
            <a:ext cx="32385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>
                <a:solidFill>
                  <a:srgbClr val="9E3458"/>
                </a:solidFill>
                <a:latin typeface="DM Sans Bold"/>
                <a:ea typeface="DM Sans Bold"/>
                <a:cs typeface="DM Sans Bold"/>
                <a:sym typeface="DM Sans Bold"/>
              </a:rPr>
              <a:t>32%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05425" y="3867150"/>
            <a:ext cx="3143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91C24"/>
                </a:solidFill>
                <a:latin typeface="Aptos"/>
                <a:ea typeface="Aptos"/>
                <a:cs typeface="Aptos"/>
                <a:sym typeface="Aptos"/>
              </a:rPr>
              <a:t>of all global deaths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66800" y="5429250"/>
            <a:ext cx="3619500" cy="2857500"/>
            <a:chOff x="0" y="0"/>
            <a:chExt cx="4826000" cy="381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26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826000">
                  <a:moveTo>
                    <a:pt x="381000" y="0"/>
                  </a:moveTo>
                  <a:lnTo>
                    <a:pt x="4445000" y="0"/>
                  </a:lnTo>
                  <a:cubicBezTo>
                    <a:pt x="4655420" y="0"/>
                    <a:pt x="4826000" y="170580"/>
                    <a:pt x="4826000" y="381000"/>
                  </a:cubicBezTo>
                  <a:lnTo>
                    <a:pt x="4826000" y="3429000"/>
                  </a:lnTo>
                  <a:cubicBezTo>
                    <a:pt x="4826000" y="3639420"/>
                    <a:pt x="4655420" y="3810000"/>
                    <a:pt x="4445000" y="3810000"/>
                  </a:cubicBezTo>
                  <a:lnTo>
                    <a:pt x="381000" y="3810000"/>
                  </a:lnTo>
                  <a:cubicBezTo>
                    <a:pt x="170580" y="3810000"/>
                    <a:pt x="0" y="3639420"/>
                    <a:pt x="0" y="3429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5DC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26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7300" y="6134100"/>
            <a:ext cx="32385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>
                <a:solidFill>
                  <a:srgbClr val="9E3458"/>
                </a:solidFill>
                <a:latin typeface="DM Sans Bold"/>
                <a:ea typeface="DM Sans Bold"/>
                <a:cs typeface="DM Sans Bold"/>
                <a:sym typeface="DM Sans Bold"/>
              </a:rPr>
              <a:t>85%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4925" y="7105650"/>
            <a:ext cx="31432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91C24"/>
                </a:solidFill>
                <a:latin typeface="Aptos"/>
                <a:ea typeface="Aptos"/>
                <a:cs typeface="Aptos"/>
                <a:sym typeface="Aptos"/>
              </a:rPr>
              <a:t>caused by heart attacks &amp; strokes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067300" y="5429250"/>
            <a:ext cx="3619500" cy="2857500"/>
            <a:chOff x="0" y="0"/>
            <a:chExt cx="4826000" cy="381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26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4826000">
                  <a:moveTo>
                    <a:pt x="381000" y="0"/>
                  </a:moveTo>
                  <a:lnTo>
                    <a:pt x="4445000" y="0"/>
                  </a:lnTo>
                  <a:cubicBezTo>
                    <a:pt x="4655420" y="0"/>
                    <a:pt x="4826000" y="170580"/>
                    <a:pt x="4826000" y="381000"/>
                  </a:cubicBezTo>
                  <a:lnTo>
                    <a:pt x="4826000" y="3429000"/>
                  </a:lnTo>
                  <a:cubicBezTo>
                    <a:pt x="4826000" y="3639420"/>
                    <a:pt x="4655420" y="3810000"/>
                    <a:pt x="4445000" y="3810000"/>
                  </a:cubicBezTo>
                  <a:lnTo>
                    <a:pt x="381000" y="3810000"/>
                  </a:lnTo>
                  <a:cubicBezTo>
                    <a:pt x="170580" y="3810000"/>
                    <a:pt x="0" y="3639420"/>
                    <a:pt x="0" y="3429000"/>
                  </a:cubicBezTo>
                  <a:lnTo>
                    <a:pt x="0" y="381000"/>
                  </a:lnTo>
                  <a:cubicBezTo>
                    <a:pt x="0" y="170580"/>
                    <a:pt x="170580" y="0"/>
                    <a:pt x="381000" y="0"/>
                  </a:cubicBezTo>
                  <a:close/>
                </a:path>
              </a:pathLst>
            </a:custGeom>
            <a:solidFill>
              <a:srgbClr val="F5DCE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826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257800" y="6134100"/>
            <a:ext cx="32385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>
                <a:solidFill>
                  <a:srgbClr val="9E3458"/>
                </a:solidFill>
                <a:latin typeface="DM Sans Bold"/>
                <a:ea typeface="DM Sans Bold"/>
                <a:cs typeface="DM Sans Bold"/>
                <a:sym typeface="DM Sans Bold"/>
              </a:rPr>
              <a:t>3 in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05425" y="7105650"/>
            <a:ext cx="3143250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91C24"/>
                </a:solidFill>
                <a:latin typeface="Aptos"/>
                <a:ea typeface="Aptos"/>
                <a:cs typeface="Aptos"/>
                <a:sym typeface="Aptos"/>
              </a:rPr>
              <a:t>CVD deaths in low- &amp; middle-income countries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39300" y="2422525"/>
            <a:ext cx="75819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EARLY DETECTION MATTERS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39300" y="3019425"/>
            <a:ext cx="7581900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400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Daily monitoring surfaces cardiovascular risk before symptoms escalate — enabling timely intervention and better outcomes.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39300" y="4525962"/>
            <a:ext cx="7581900" cy="33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766871"/>
                </a:solidFill>
                <a:latin typeface="Aptos"/>
                <a:ea typeface="Aptos"/>
                <a:cs typeface="Aptos"/>
                <a:sym typeface="Aptos"/>
              </a:rPr>
              <a:t>Source: WHO Global Health Estimates, 2022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39300" y="5183505"/>
            <a:ext cx="75819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766871"/>
                </a:solidFill>
                <a:latin typeface="Aptos"/>
                <a:ea typeface="Aptos"/>
                <a:cs typeface="Aptos"/>
                <a:sym typeface="Aptos"/>
              </a:rPr>
              <a:t>HeartHealth raises health awareness and supports self-monitoring.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766871"/>
                </a:solidFill>
                <a:latin typeface="Aptos"/>
                <a:ea typeface="Aptos"/>
                <a:cs typeface="Aptos"/>
                <a:sym typeface="Aptos"/>
              </a:rPr>
              <a:t>It does not replace professional medical diagnosis.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6800" y="9696450"/>
            <a:ext cx="49530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CSE 430  •  HEARTHEALTH  •  02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6775" y="20955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6775" y="3857625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775" y="5353050"/>
            <a:ext cx="2400300" cy="3219450"/>
          </a:xfrm>
          <a:custGeom>
            <a:avLst/>
            <a:gdLst/>
            <a:ahLst/>
            <a:cxnLst/>
            <a:rect r="r" b="b" t="t" l="l"/>
            <a:pathLst>
              <a:path h="3219450" w="2400300">
                <a:moveTo>
                  <a:pt x="0" y="0"/>
                </a:moveTo>
                <a:lnTo>
                  <a:pt x="2400300" y="0"/>
                </a:lnTo>
                <a:lnTo>
                  <a:pt x="2400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4925" y="578167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4000" y="7924800"/>
            <a:ext cx="876300" cy="219075"/>
          </a:xfrm>
          <a:custGeom>
            <a:avLst/>
            <a:gdLst/>
            <a:ahLst/>
            <a:cxnLst/>
            <a:rect r="r" b="b" t="t" l="l"/>
            <a:pathLst>
              <a:path h="219075" w="876300">
                <a:moveTo>
                  <a:pt x="0" y="0"/>
                </a:moveTo>
                <a:lnTo>
                  <a:pt x="876300" y="0"/>
                </a:lnTo>
                <a:lnTo>
                  <a:pt x="87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57550" y="5353050"/>
            <a:ext cx="2409825" cy="3219450"/>
          </a:xfrm>
          <a:custGeom>
            <a:avLst/>
            <a:gdLst/>
            <a:ahLst/>
            <a:cxnLst/>
            <a:rect r="r" b="b" t="t" l="l"/>
            <a:pathLst>
              <a:path h="3219450" w="2409825">
                <a:moveTo>
                  <a:pt x="0" y="0"/>
                </a:moveTo>
                <a:lnTo>
                  <a:pt x="2409825" y="0"/>
                </a:lnTo>
                <a:lnTo>
                  <a:pt x="24098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95700" y="5781675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14775" y="7924800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57850" y="5353050"/>
            <a:ext cx="2619375" cy="3219450"/>
          </a:xfrm>
          <a:custGeom>
            <a:avLst/>
            <a:gdLst/>
            <a:ahLst/>
            <a:cxnLst/>
            <a:rect r="r" b="b" t="t" l="l"/>
            <a:pathLst>
              <a:path h="3219450" w="2619375">
                <a:moveTo>
                  <a:pt x="0" y="0"/>
                </a:moveTo>
                <a:lnTo>
                  <a:pt x="2619375" y="0"/>
                </a:lnTo>
                <a:lnTo>
                  <a:pt x="26193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05550" y="5781675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24625" y="7924800"/>
            <a:ext cx="885825" cy="219075"/>
          </a:xfrm>
          <a:custGeom>
            <a:avLst/>
            <a:gdLst/>
            <a:ahLst/>
            <a:cxnLst/>
            <a:rect r="r" b="b" t="t" l="l"/>
            <a:pathLst>
              <a:path h="219075" w="885825">
                <a:moveTo>
                  <a:pt x="0" y="0"/>
                </a:moveTo>
                <a:lnTo>
                  <a:pt x="885825" y="0"/>
                </a:lnTo>
                <a:lnTo>
                  <a:pt x="885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67700" y="5353050"/>
            <a:ext cx="2400300" cy="3219450"/>
          </a:xfrm>
          <a:custGeom>
            <a:avLst/>
            <a:gdLst/>
            <a:ahLst/>
            <a:cxnLst/>
            <a:rect r="r" b="b" t="t" l="l"/>
            <a:pathLst>
              <a:path h="3219450" w="2400300">
                <a:moveTo>
                  <a:pt x="0" y="0"/>
                </a:moveTo>
                <a:lnTo>
                  <a:pt x="2400300" y="0"/>
                </a:lnTo>
                <a:lnTo>
                  <a:pt x="24003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05850" y="5781675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24925" y="7924800"/>
            <a:ext cx="1095375" cy="219075"/>
          </a:xfrm>
          <a:custGeom>
            <a:avLst/>
            <a:gdLst/>
            <a:ahLst/>
            <a:cxnLst/>
            <a:rect r="r" b="b" t="t" l="l"/>
            <a:pathLst>
              <a:path h="219075" w="10953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66775" y="8572500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5850" y="8782050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1763375" y="0"/>
            <a:ext cx="5198942" cy="10287000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9"/>
              <a:stretch>
                <a:fillRect l="0" t="-2541" r="0" b="-2541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14400" y="1624598"/>
            <a:ext cx="5340096" cy="10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true">
                <a:solidFill>
                  <a:srgbClr val="2E2331"/>
                </a:solidFill>
                <a:latin typeface="DM Sans Bold"/>
                <a:ea typeface="DM Sans Bold"/>
                <a:cs typeface="DM Sans Bold"/>
                <a:sym typeface="DM Sans Bold"/>
              </a:rPr>
              <a:t>My Mobile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2684159"/>
            <a:ext cx="6693408" cy="107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true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App Solution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4172431"/>
            <a:ext cx="7315200" cy="82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2E2331"/>
                </a:solidFill>
                <a:latin typeface="DM Sans"/>
                <a:ea typeface="DM Sans"/>
                <a:cs typeface="DM Sans"/>
                <a:sym typeface="DM Sans"/>
              </a:rPr>
              <a:t>HeartHealth is the mobile app I designed</a:t>
            </a:r>
          </a:p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2E2331"/>
                </a:solidFill>
                <a:latin typeface="DM Sans"/>
                <a:ea typeface="DM Sans"/>
                <a:cs typeface="DM Sans"/>
                <a:sym typeface="DM Sans"/>
              </a:rPr>
              <a:t>to solve everyday cardiovascular care challenges.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9888" y="7347461"/>
            <a:ext cx="1225296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2E2331"/>
                </a:solidFill>
                <a:latin typeface="DM Sans Bold"/>
                <a:ea typeface="DM Sans Bold"/>
                <a:cs typeface="DM Sans Bold"/>
                <a:sym typeface="DM Sans Bold"/>
              </a:rPr>
              <a:t>Daily vitals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95344" y="7195442"/>
            <a:ext cx="1133856" cy="62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2E2331"/>
                </a:solidFill>
                <a:latin typeface="DM Sans Bold"/>
                <a:ea typeface="DM Sans Bold"/>
                <a:cs typeface="DM Sans Bold"/>
                <a:sym typeface="DM Sans Bold"/>
              </a:rPr>
              <a:t>4-step</a:t>
            </a:r>
          </a:p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2E2331"/>
                </a:solidFill>
                <a:latin typeface="DM Sans Bold"/>
                <a:ea typeface="DM Sans Bold"/>
                <a:cs typeface="DM Sans Bold"/>
                <a:sym typeface="DM Sans Bold"/>
              </a:rPr>
              <a:t>screening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68512" y="7195442"/>
            <a:ext cx="1609344" cy="62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2E2331"/>
                </a:solidFill>
                <a:latin typeface="DM Sans Bold"/>
                <a:ea typeface="DM Sans Bold"/>
                <a:cs typeface="DM Sans Bold"/>
                <a:sym typeface="DM Sans Bold"/>
              </a:rPr>
              <a:t>Medication &amp; appointments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92240" y="7195442"/>
            <a:ext cx="969264" cy="62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2E2331"/>
                </a:solidFill>
                <a:latin typeface="DM Sans Bold"/>
                <a:ea typeface="DM Sans Bold"/>
                <a:cs typeface="DM Sans Bold"/>
                <a:sym typeface="DM Sans Bold"/>
              </a:rPr>
              <a:t>Trend</a:t>
            </a:r>
          </a:p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2E2331"/>
                </a:solidFill>
                <a:latin typeface="DM Sans Bold"/>
                <a:ea typeface="DM Sans Bold"/>
                <a:cs typeface="DM Sans Bold"/>
                <a:sym typeface="DM Sans Bold"/>
              </a:rPr>
              <a:t>tracking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55648" y="8900798"/>
            <a:ext cx="3054096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2E2331"/>
                </a:solidFill>
                <a:latin typeface="DM Sans"/>
                <a:ea typeface="DM Sans"/>
                <a:cs typeface="DM Sans"/>
                <a:sym typeface="DM Sans"/>
              </a:rPr>
              <a:t>Designed and developed by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901184" y="8900798"/>
            <a:ext cx="2359152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 b="true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Nguyễn Hoàng Giang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8992" y="8900798"/>
            <a:ext cx="329184" cy="30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82496" y="538386"/>
            <a:ext cx="1645920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4128" y="538386"/>
            <a:ext cx="329184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" y="9877425"/>
            <a:ext cx="329184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260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CSE 430 • HEARTHEALTH •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0976" y="1308155"/>
            <a:ext cx="9785783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spc="-112" b="true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Stack — Backend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6775" y="2143125"/>
            <a:ext cx="1314450" cy="428625"/>
          </a:xfrm>
          <a:custGeom>
            <a:avLst/>
            <a:gdLst/>
            <a:ahLst/>
            <a:cxnLst/>
            <a:rect r="r" b="b" t="t" l="l"/>
            <a:pathLst>
              <a:path h="428625" w="1314450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96625" y="638175"/>
            <a:ext cx="3933825" cy="1504950"/>
          </a:xfrm>
          <a:custGeom>
            <a:avLst/>
            <a:gdLst/>
            <a:ahLst/>
            <a:cxnLst/>
            <a:rect r="r" b="b" t="t" l="l"/>
            <a:pathLst>
              <a:path h="1504950" w="3933825">
                <a:moveTo>
                  <a:pt x="0" y="0"/>
                </a:moveTo>
                <a:lnTo>
                  <a:pt x="3933825" y="0"/>
                </a:lnTo>
                <a:lnTo>
                  <a:pt x="39338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1850" y="638175"/>
            <a:ext cx="2181225" cy="1933575"/>
          </a:xfrm>
          <a:custGeom>
            <a:avLst/>
            <a:gdLst/>
            <a:ahLst/>
            <a:cxnLst/>
            <a:rect r="r" b="b" t="t" l="l"/>
            <a:pathLst>
              <a:path h="1933575" w="218122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44925" y="638175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64000" y="12858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775" y="2781300"/>
            <a:ext cx="5448300" cy="2581275"/>
          </a:xfrm>
          <a:custGeom>
            <a:avLst/>
            <a:gdLst/>
            <a:ahLst/>
            <a:cxnLst/>
            <a:rect r="r" b="b" t="t" l="l"/>
            <a:pathLst>
              <a:path h="2581275" w="5448300">
                <a:moveTo>
                  <a:pt x="0" y="0"/>
                </a:moveTo>
                <a:lnTo>
                  <a:pt x="5448300" y="0"/>
                </a:lnTo>
                <a:lnTo>
                  <a:pt x="5448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5850" y="342900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4000" y="363855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88336" y="3524877"/>
            <a:ext cx="126187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JAVA 17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609850" y="406717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05550" y="2781300"/>
            <a:ext cx="5457825" cy="2581275"/>
          </a:xfrm>
          <a:custGeom>
            <a:avLst/>
            <a:gdLst/>
            <a:ahLst/>
            <a:cxnLst/>
            <a:rect r="r" b="b" t="t" l="l"/>
            <a:pathLst>
              <a:path h="2581275" w="5457825">
                <a:moveTo>
                  <a:pt x="0" y="0"/>
                </a:moveTo>
                <a:lnTo>
                  <a:pt x="5457825" y="0"/>
                </a:lnTo>
                <a:lnTo>
                  <a:pt x="54578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43700" y="342900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62775" y="36385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02752" y="3524877"/>
            <a:ext cx="281635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JPA /HIBERNATE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267700" y="4067175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02752" y="4450047"/>
            <a:ext cx="1645920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>
                <a:solidFill>
                  <a:srgbClr val="808080"/>
                </a:solidFill>
                <a:latin typeface="DM Sans"/>
                <a:ea typeface="DM Sans"/>
                <a:cs typeface="DM Sans"/>
                <a:sym typeface="DM Sans"/>
              </a:rPr>
              <a:t>Persistence layer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972925" y="2781300"/>
            <a:ext cx="5448300" cy="2581275"/>
          </a:xfrm>
          <a:custGeom>
            <a:avLst/>
            <a:gdLst/>
            <a:ahLst/>
            <a:cxnLst/>
            <a:rect r="r" b="b" t="t" l="l"/>
            <a:pathLst>
              <a:path h="2581275" w="5448300">
                <a:moveTo>
                  <a:pt x="0" y="0"/>
                </a:moveTo>
                <a:lnTo>
                  <a:pt x="5448300" y="0"/>
                </a:lnTo>
                <a:lnTo>
                  <a:pt x="54483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01550" y="342900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620625" y="363855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844016" y="3524877"/>
            <a:ext cx="2048256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GMAIL SMTP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716000" y="406717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844016" y="4450047"/>
            <a:ext cx="1847088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>
                <a:solidFill>
                  <a:srgbClr val="808080"/>
                </a:solidFill>
                <a:latin typeface="DM Sans"/>
                <a:ea typeface="DM Sans"/>
                <a:cs typeface="DM Sans"/>
                <a:sym typeface="DM Sans"/>
              </a:rPr>
              <a:t>OTP authentication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66775" y="5572125"/>
            <a:ext cx="5448300" cy="2362200"/>
          </a:xfrm>
          <a:custGeom>
            <a:avLst/>
            <a:gdLst/>
            <a:ahLst/>
            <a:cxnLst/>
            <a:rect r="r" b="b" t="t" l="l"/>
            <a:pathLst>
              <a:path h="2362200" w="5448300">
                <a:moveTo>
                  <a:pt x="0" y="0"/>
                </a:moveTo>
                <a:lnTo>
                  <a:pt x="5448300" y="0"/>
                </a:lnTo>
                <a:lnTo>
                  <a:pt x="5448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5850" y="600075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04925" y="64293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688336" y="6189210"/>
            <a:ext cx="281635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SPRING BOOT 4.1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2609850" y="663892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688336" y="7073232"/>
            <a:ext cx="2103120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>
                <a:solidFill>
                  <a:srgbClr val="808080"/>
                </a:solidFill>
                <a:latin typeface="DM Sans"/>
                <a:ea typeface="DM Sans"/>
                <a:cs typeface="DM Sans"/>
                <a:sym typeface="DM Sans"/>
              </a:rPr>
              <a:t>REST application core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305550" y="5572125"/>
            <a:ext cx="5457825" cy="2362200"/>
          </a:xfrm>
          <a:custGeom>
            <a:avLst/>
            <a:gdLst/>
            <a:ahLst/>
            <a:cxnLst/>
            <a:rect r="r" b="b" t="t" l="l"/>
            <a:pathLst>
              <a:path h="2362200" w="5457825">
                <a:moveTo>
                  <a:pt x="0" y="0"/>
                </a:moveTo>
                <a:lnTo>
                  <a:pt x="5457825" y="0"/>
                </a:lnTo>
                <a:lnTo>
                  <a:pt x="54578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743700" y="600075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962775" y="64293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8302752" y="6189210"/>
            <a:ext cx="2011680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MYSQL 8.0+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267700" y="6638925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302752" y="7073232"/>
            <a:ext cx="1280160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>
                <a:solidFill>
                  <a:srgbClr val="808080"/>
                </a:solidFill>
                <a:latin typeface="DM Sans"/>
                <a:ea typeface="DM Sans"/>
                <a:cs typeface="DM Sans"/>
                <a:sym typeface="DM Sans"/>
              </a:rPr>
              <a:t>7 core tables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972925" y="5572125"/>
            <a:ext cx="5448300" cy="2362200"/>
          </a:xfrm>
          <a:custGeom>
            <a:avLst/>
            <a:gdLst/>
            <a:ahLst/>
            <a:cxnLst/>
            <a:rect r="r" b="b" t="t" l="l"/>
            <a:pathLst>
              <a:path h="2362200" w="5448300">
                <a:moveTo>
                  <a:pt x="0" y="0"/>
                </a:moveTo>
                <a:lnTo>
                  <a:pt x="5448300" y="0"/>
                </a:lnTo>
                <a:lnTo>
                  <a:pt x="5448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401550" y="600075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620625" y="642937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844016" y="6189210"/>
            <a:ext cx="299923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22222"/>
                </a:solidFill>
                <a:latin typeface="DM Sans Bold"/>
                <a:ea typeface="DM Sans Bold"/>
                <a:cs typeface="DM Sans Bold"/>
                <a:sym typeface="DM Sans Bold"/>
              </a:rPr>
              <a:t>LOMBOK + MAVEN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3716000" y="663892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3844016" y="7073232"/>
            <a:ext cx="2414016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>
                <a:solidFill>
                  <a:srgbClr val="808080"/>
                </a:solidFill>
                <a:latin typeface="DM Sans"/>
                <a:ea typeface="DM Sans"/>
                <a:cs typeface="DM Sans"/>
                <a:sym typeface="DM Sans"/>
              </a:rPr>
              <a:t>Lean, reproducible builds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09550" y="8143875"/>
            <a:ext cx="1752600" cy="857250"/>
          </a:xfrm>
          <a:custGeom>
            <a:avLst/>
            <a:gdLst/>
            <a:ahLst/>
            <a:cxnLst/>
            <a:rect r="r" b="b" t="t" l="l"/>
            <a:pathLst>
              <a:path h="857250" w="1752600">
                <a:moveTo>
                  <a:pt x="0" y="0"/>
                </a:moveTo>
                <a:lnTo>
                  <a:pt x="1752600" y="0"/>
                </a:lnTo>
                <a:lnTo>
                  <a:pt x="1752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733550" y="8353425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3257550" y="85725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257550" y="900112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2688336" y="4450047"/>
            <a:ext cx="1517904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>
                <a:solidFill>
                  <a:srgbClr val="808080"/>
                </a:solidFill>
                <a:latin typeface="DM Sans"/>
                <a:ea typeface="DM Sans"/>
                <a:cs typeface="DM Sans"/>
                <a:sym typeface="DM Sans"/>
              </a:rPr>
              <a:t>Modern runtime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66775" y="9658350"/>
            <a:ext cx="329184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260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CSE 430 • HEARTHEALTH • 04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866775" y="20955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682496" y="538386"/>
            <a:ext cx="1645920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4128" y="538386"/>
            <a:ext cx="329184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143875"/>
            <a:ext cx="18288000" cy="2143125"/>
          </a:xfrm>
          <a:custGeom>
            <a:avLst/>
            <a:gdLst/>
            <a:ahLst/>
            <a:cxnLst/>
            <a:rect r="r" b="b" t="t" l="l"/>
            <a:pathLst>
              <a:path h="2143125" w="18288000">
                <a:moveTo>
                  <a:pt x="0" y="0"/>
                </a:moveTo>
                <a:lnTo>
                  <a:pt x="18288000" y="0"/>
                </a:lnTo>
                <a:lnTo>
                  <a:pt x="182880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6384" y="976806"/>
            <a:ext cx="10557712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2E2E2E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Technology Stack — Frontend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1714500"/>
            <a:ext cx="1314450" cy="428625"/>
          </a:xfrm>
          <a:custGeom>
            <a:avLst/>
            <a:gdLst/>
            <a:ahLst/>
            <a:cxnLst/>
            <a:rect r="r" b="b" t="t" l="l"/>
            <a:pathLst>
              <a:path h="428625" w="1314450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15700" y="638175"/>
            <a:ext cx="4143375" cy="1295400"/>
          </a:xfrm>
          <a:custGeom>
            <a:avLst/>
            <a:gdLst/>
            <a:ahLst/>
            <a:cxnLst/>
            <a:rect r="r" b="b" t="t" l="l"/>
            <a:pathLst>
              <a:path h="1295400" w="4143375">
                <a:moveTo>
                  <a:pt x="0" y="0"/>
                </a:moveTo>
                <a:lnTo>
                  <a:pt x="4143375" y="0"/>
                </a:lnTo>
                <a:lnTo>
                  <a:pt x="4143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40000" y="638175"/>
            <a:ext cx="1743075" cy="1724025"/>
          </a:xfrm>
          <a:custGeom>
            <a:avLst/>
            <a:gdLst/>
            <a:ahLst/>
            <a:cxnLst/>
            <a:rect r="r" b="b" t="t" l="l"/>
            <a:pathLst>
              <a:path h="1724025" w="1743075">
                <a:moveTo>
                  <a:pt x="0" y="0"/>
                </a:moveTo>
                <a:lnTo>
                  <a:pt x="1743075" y="0"/>
                </a:lnTo>
                <a:lnTo>
                  <a:pt x="17430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73550" y="428625"/>
            <a:ext cx="228600" cy="428625"/>
          </a:xfrm>
          <a:custGeom>
            <a:avLst/>
            <a:gdLst/>
            <a:ahLst/>
            <a:cxnLst/>
            <a:rect r="r" b="b" t="t" l="l"/>
            <a:pathLst>
              <a:path h="428625" w="228600">
                <a:moveTo>
                  <a:pt x="0" y="0"/>
                </a:moveTo>
                <a:lnTo>
                  <a:pt x="228600" y="0"/>
                </a:lnTo>
                <a:lnTo>
                  <a:pt x="228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973550" y="106680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7700" y="2352675"/>
            <a:ext cx="5448300" cy="2152650"/>
          </a:xfrm>
          <a:custGeom>
            <a:avLst/>
            <a:gdLst/>
            <a:ahLst/>
            <a:cxnLst/>
            <a:rect r="r" b="b" t="t" l="l"/>
            <a:pathLst>
              <a:path h="2152650" w="5448300">
                <a:moveTo>
                  <a:pt x="0" y="0"/>
                </a:moveTo>
                <a:lnTo>
                  <a:pt x="5448300" y="0"/>
                </a:lnTo>
                <a:lnTo>
                  <a:pt x="5448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6775" y="2781300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5850" y="300037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95728" y="2874476"/>
            <a:ext cx="384048" cy="36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833" b="true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71700" y="320992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95728" y="3648321"/>
            <a:ext cx="299923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E2E2E"/>
                </a:solidFill>
                <a:latin typeface="DM Sans Bold"/>
                <a:ea typeface="DM Sans Bold"/>
                <a:cs typeface="DM Sans Bold"/>
                <a:sym typeface="DM Sans Bold"/>
              </a:rPr>
              <a:t>React Native 0.74+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096000" y="2352675"/>
            <a:ext cx="5667375" cy="2152650"/>
          </a:xfrm>
          <a:custGeom>
            <a:avLst/>
            <a:gdLst/>
            <a:ahLst/>
            <a:cxnLst/>
            <a:rect r="r" b="b" t="t" l="l"/>
            <a:pathLst>
              <a:path h="2152650" w="5667375">
                <a:moveTo>
                  <a:pt x="0" y="0"/>
                </a:moveTo>
                <a:lnTo>
                  <a:pt x="5667375" y="0"/>
                </a:lnTo>
                <a:lnTo>
                  <a:pt x="566737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305550" y="2781300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24625" y="30003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82128" y="2885802"/>
            <a:ext cx="438912" cy="34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691" b="true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829550" y="320992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882128" y="3654885"/>
            <a:ext cx="2907792" cy="32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2478" b="true">
                <a:solidFill>
                  <a:srgbClr val="2E2E2E"/>
                </a:solidFill>
                <a:latin typeface="DM Sans Bold"/>
                <a:ea typeface="DM Sans Bold"/>
                <a:cs typeface="DM Sans Bold"/>
                <a:sym typeface="DM Sans Bold"/>
              </a:rPr>
              <a:t>React-navigation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753850" y="2352675"/>
            <a:ext cx="5886450" cy="2152650"/>
          </a:xfrm>
          <a:custGeom>
            <a:avLst/>
            <a:gdLst/>
            <a:ahLst/>
            <a:cxnLst/>
            <a:rect r="r" b="b" t="t" l="l"/>
            <a:pathLst>
              <a:path h="2152650" w="5886450">
                <a:moveTo>
                  <a:pt x="0" y="0"/>
                </a:moveTo>
                <a:lnTo>
                  <a:pt x="5886450" y="0"/>
                </a:lnTo>
                <a:lnTo>
                  <a:pt x="58864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972925" y="2781300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192000" y="3000375"/>
            <a:ext cx="1095375" cy="857250"/>
          </a:xfrm>
          <a:custGeom>
            <a:avLst/>
            <a:gdLst/>
            <a:ahLst/>
            <a:cxnLst/>
            <a:rect r="r" b="b" t="t" l="l"/>
            <a:pathLst>
              <a:path h="857250" w="1095375">
                <a:moveTo>
                  <a:pt x="0" y="0"/>
                </a:moveTo>
                <a:lnTo>
                  <a:pt x="1095375" y="0"/>
                </a:lnTo>
                <a:lnTo>
                  <a:pt x="10953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551408" y="2881940"/>
            <a:ext cx="43891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496925" y="320992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551408" y="3658296"/>
            <a:ext cx="3650742" cy="3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2585" b="true">
                <a:solidFill>
                  <a:srgbClr val="2E2E2E"/>
                </a:solidFill>
                <a:latin typeface="DM Sans Bold"/>
                <a:ea typeface="DM Sans Bold"/>
                <a:cs typeface="DM Sans Bold"/>
                <a:sym typeface="DM Sans Bold"/>
              </a:rPr>
              <a:t>React-native‑chart‑kit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47700" y="4714875"/>
            <a:ext cx="5448300" cy="2143125"/>
          </a:xfrm>
          <a:custGeom>
            <a:avLst/>
            <a:gdLst/>
            <a:ahLst/>
            <a:cxnLst/>
            <a:rect r="r" b="b" t="t" l="l"/>
            <a:pathLst>
              <a:path h="2143125" w="5448300">
                <a:moveTo>
                  <a:pt x="0" y="0"/>
                </a:moveTo>
                <a:lnTo>
                  <a:pt x="5448300" y="0"/>
                </a:lnTo>
                <a:lnTo>
                  <a:pt x="5448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66775" y="514350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85850" y="5572125"/>
            <a:ext cx="876300" cy="428625"/>
          </a:xfrm>
          <a:custGeom>
            <a:avLst/>
            <a:gdLst/>
            <a:ahLst/>
            <a:cxnLst/>
            <a:rect r="r" b="b" t="t" l="l"/>
            <a:pathLst>
              <a:path h="428625" w="876300">
                <a:moveTo>
                  <a:pt x="0" y="0"/>
                </a:moveTo>
                <a:lnTo>
                  <a:pt x="876300" y="0"/>
                </a:lnTo>
                <a:lnTo>
                  <a:pt x="8763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171700" y="557212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395728" y="6009707"/>
            <a:ext cx="2999232" cy="33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549" b="true">
                <a:solidFill>
                  <a:srgbClr val="2E2E2E"/>
                </a:solidFill>
                <a:latin typeface="DM Sans Bold"/>
                <a:ea typeface="DM Sans Bold"/>
                <a:cs typeface="DM Sans Bold"/>
                <a:sym typeface="DM Sans Bold"/>
              </a:rPr>
              <a:t>Community slider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096000" y="4714875"/>
            <a:ext cx="5667375" cy="2143125"/>
          </a:xfrm>
          <a:custGeom>
            <a:avLst/>
            <a:gdLst/>
            <a:ahLst/>
            <a:cxnLst/>
            <a:rect r="r" b="b" t="t" l="l"/>
            <a:pathLst>
              <a:path h="2143125" w="5667375">
                <a:moveTo>
                  <a:pt x="0" y="0"/>
                </a:moveTo>
                <a:lnTo>
                  <a:pt x="5667375" y="0"/>
                </a:lnTo>
                <a:lnTo>
                  <a:pt x="56673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305550" y="514350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524625" y="5572125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882128" y="5257925"/>
            <a:ext cx="438912" cy="332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2585" b="true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7829550" y="5572125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7882128" y="6004044"/>
            <a:ext cx="290779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E2E2E"/>
                </a:solidFill>
                <a:latin typeface="DM Sans Bold"/>
                <a:ea typeface="DM Sans Bold"/>
                <a:cs typeface="DM Sans Bold"/>
                <a:sym typeface="DM Sans Bold"/>
              </a:rPr>
              <a:t>Axios HTTP client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1753850" y="4714875"/>
            <a:ext cx="5886450" cy="2143125"/>
          </a:xfrm>
          <a:custGeom>
            <a:avLst/>
            <a:gdLst/>
            <a:ahLst/>
            <a:cxnLst/>
            <a:rect r="r" b="b" t="t" l="l"/>
            <a:pathLst>
              <a:path h="2143125" w="5886450">
                <a:moveTo>
                  <a:pt x="0" y="0"/>
                </a:moveTo>
                <a:lnTo>
                  <a:pt x="5886450" y="0"/>
                </a:lnTo>
                <a:lnTo>
                  <a:pt x="5886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972925" y="5143500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192000" y="5353050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3551408" y="5253613"/>
            <a:ext cx="438912" cy="33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549" b="true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3496925" y="5572125"/>
            <a:ext cx="657225" cy="219075"/>
          </a:xfrm>
          <a:custGeom>
            <a:avLst/>
            <a:gdLst/>
            <a:ahLst/>
            <a:cxnLst/>
            <a:rect r="r" b="b" t="t" l="l"/>
            <a:pathLst>
              <a:path h="219075" w="657225">
                <a:moveTo>
                  <a:pt x="0" y="0"/>
                </a:moveTo>
                <a:lnTo>
                  <a:pt x="657225" y="0"/>
                </a:lnTo>
                <a:lnTo>
                  <a:pt x="6572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3551408" y="6004044"/>
            <a:ext cx="3474720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2E2E2E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 API • VN / EN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647700" y="7067550"/>
            <a:ext cx="16992600" cy="1076325"/>
          </a:xfrm>
          <a:custGeom>
            <a:avLst/>
            <a:gdLst/>
            <a:ahLst/>
            <a:cxnLst/>
            <a:rect r="r" b="b" t="t" l="l"/>
            <a:pathLst>
              <a:path h="1076325" w="16992600">
                <a:moveTo>
                  <a:pt x="0" y="0"/>
                </a:moveTo>
                <a:lnTo>
                  <a:pt x="16992600" y="0"/>
                </a:lnTo>
                <a:lnTo>
                  <a:pt x="1699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04925" y="72866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2596896" y="7475085"/>
            <a:ext cx="1250899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>
                <a:solidFill>
                  <a:srgbClr val="2E2E2E"/>
                </a:solidFill>
                <a:latin typeface="DM Sans"/>
                <a:ea typeface="DM Sans"/>
                <a:cs typeface="DM Sans"/>
                <a:sym typeface="DM Sans"/>
              </a:rPr>
              <a:t>A fast, native‑feeling interface built around clarity, trends, and bilingual access.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428625" y="8143875"/>
            <a:ext cx="1314450" cy="857250"/>
          </a:xfrm>
          <a:custGeom>
            <a:avLst/>
            <a:gdLst/>
            <a:ahLst/>
            <a:cxnLst/>
            <a:rect r="r" b="b" t="t" l="l"/>
            <a:pathLst>
              <a:path h="857250" w="1314450">
                <a:moveTo>
                  <a:pt x="0" y="0"/>
                </a:moveTo>
                <a:lnTo>
                  <a:pt x="1314450" y="0"/>
                </a:lnTo>
                <a:lnTo>
                  <a:pt x="1314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395728" y="5253613"/>
            <a:ext cx="438912" cy="33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549" b="true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786384" y="95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602105" y="338361"/>
            <a:ext cx="1645920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43737" y="338361"/>
            <a:ext cx="329184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47700" y="9877425"/>
            <a:ext cx="329184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260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CSE 430 • HEARTHEALTH • 05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50" y="1714500"/>
            <a:ext cx="7848600" cy="3219450"/>
          </a:xfrm>
          <a:custGeom>
            <a:avLst/>
            <a:gdLst/>
            <a:ahLst/>
            <a:cxnLst/>
            <a:rect r="r" b="b" t="t" l="l"/>
            <a:pathLst>
              <a:path h="3219450" w="7848600">
                <a:moveTo>
                  <a:pt x="0" y="0"/>
                </a:moveTo>
                <a:lnTo>
                  <a:pt x="7848600" y="0"/>
                </a:lnTo>
                <a:lnTo>
                  <a:pt x="7848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625" y="192405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9550" y="4924425"/>
            <a:ext cx="7848600" cy="4933950"/>
          </a:xfrm>
          <a:custGeom>
            <a:avLst/>
            <a:gdLst/>
            <a:ahLst/>
            <a:cxnLst/>
            <a:rect r="r" b="b" t="t" l="l"/>
            <a:pathLst>
              <a:path h="4933950" w="7848600">
                <a:moveTo>
                  <a:pt x="0" y="0"/>
                </a:moveTo>
                <a:lnTo>
                  <a:pt x="7848600" y="0"/>
                </a:lnTo>
                <a:lnTo>
                  <a:pt x="78486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8625" y="5143500"/>
            <a:ext cx="885825" cy="857250"/>
          </a:xfrm>
          <a:custGeom>
            <a:avLst/>
            <a:gdLst/>
            <a:ahLst/>
            <a:cxnLst/>
            <a:rect r="r" b="b" t="t" l="l"/>
            <a:pathLst>
              <a:path h="857250" w="885825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09011" y="0"/>
            <a:ext cx="9778989" cy="10287000"/>
          </a:xfrm>
          <a:custGeom>
            <a:avLst/>
            <a:gdLst/>
            <a:ahLst/>
            <a:cxnLst/>
            <a:rect r="r" b="b" t="t" l="l"/>
            <a:pathLst>
              <a:path h="10287000" w="9778989">
                <a:moveTo>
                  <a:pt x="0" y="0"/>
                </a:moveTo>
                <a:lnTo>
                  <a:pt x="9778989" y="0"/>
                </a:lnTo>
                <a:lnTo>
                  <a:pt x="97789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96" r="-2197" b="-89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12064" y="833395"/>
            <a:ext cx="6711696" cy="74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5598">
                <a:solidFill>
                  <a:srgbClr val="202020"/>
                </a:solidFill>
                <a:latin typeface="Lexend Deca"/>
                <a:ea typeface="Lexend Deca"/>
                <a:cs typeface="Lexend Deca"/>
                <a:sym typeface="Lexend Deca"/>
              </a:rPr>
              <a:t>Use Case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8448" y="2149190"/>
            <a:ext cx="2011680" cy="31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>
                <a:solidFill>
                  <a:srgbClr val="D83C78"/>
                </a:solidFill>
                <a:latin typeface="Lexend Deca"/>
                <a:ea typeface="Lexend Deca"/>
                <a:cs typeface="Lexend Deca"/>
                <a:sym typeface="Lexend Deca"/>
              </a:rPr>
              <a:t>1. Key Actors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2064" y="2659524"/>
            <a:ext cx="7223760" cy="187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6184" indent="-168092" lvl="1">
              <a:lnSpc>
                <a:spcPts val="3892"/>
              </a:lnSpc>
              <a:buFont typeface="Arial"/>
              <a:buChar char="•"/>
            </a:pPr>
            <a:r>
              <a:rPr lang="en-US" b="true" sz="1557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Patient (User):</a:t>
            </a:r>
            <a:r>
              <a:rPr lang="en-US" sz="1557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Main actor for vitals tracking &amp; scheduling</a:t>
            </a:r>
          </a:p>
          <a:p>
            <a:pPr algn="l" marL="336184" indent="-168092" lvl="1">
              <a:lnSpc>
                <a:spcPts val="3892"/>
              </a:lnSpc>
              <a:buFont typeface="Arial"/>
              <a:buChar char="•"/>
            </a:pPr>
            <a:r>
              <a:rPr lang="en-US" b="true" sz="1557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Gmail SMTP:</a:t>
            </a:r>
            <a:r>
              <a:rPr lang="en-US" sz="1557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Delivers 6-digit OTP verification emails</a:t>
            </a:r>
          </a:p>
          <a:p>
            <a:pPr algn="l" marL="336184" indent="-168092" lvl="1">
              <a:lnSpc>
                <a:spcPts val="3892"/>
              </a:lnSpc>
              <a:buFont typeface="Arial"/>
              <a:buChar char="•"/>
            </a:pPr>
            <a:r>
              <a:rPr lang="en-US" b="true" sz="1557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MySQL Database:</a:t>
            </a:r>
            <a:r>
              <a:rPr lang="en-US" sz="1557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Manages central health data persistence</a:t>
            </a:r>
          </a:p>
          <a:p>
            <a:pPr algn="l" marL="336184" indent="-168092" lvl="1">
              <a:lnSpc>
                <a:spcPts val="3892"/>
              </a:lnSpc>
              <a:buFont typeface="Arial"/>
              <a:buChar char="•"/>
            </a:pPr>
            <a:r>
              <a:rPr lang="en-US" b="true" sz="1557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Admin:</a:t>
            </a:r>
            <a:r>
              <a:rPr lang="en-US" sz="1557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Handles system user account management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8448" y="5430743"/>
            <a:ext cx="3950208" cy="31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>
                <a:solidFill>
                  <a:srgbClr val="D83C78"/>
                </a:solidFill>
                <a:latin typeface="Lexend Deca"/>
                <a:ea typeface="Lexend Deca"/>
                <a:cs typeface="Lexend Deca"/>
                <a:sym typeface="Lexend Deca"/>
              </a:rPr>
              <a:t>2. Core Functions &amp;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2064" y="6140974"/>
            <a:ext cx="7223760" cy="323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026" indent="-214013" lvl="1">
              <a:lnSpc>
                <a:spcPts val="2577"/>
              </a:lnSpc>
              <a:buFont typeface="Arial"/>
              <a:buChar char="•"/>
            </a:pPr>
            <a:r>
              <a:rPr lang="en-US" b="true" sz="1982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Auth &amp; Security:</a:t>
            </a:r>
            <a:r>
              <a:rPr lang="en-US" sz="1982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OTP verification for Register &amp; Password Reset</a:t>
            </a:r>
          </a:p>
          <a:p>
            <a:pPr algn="l" marL="428026" indent="-214013" lvl="1">
              <a:lnSpc>
                <a:spcPts val="2577"/>
              </a:lnSpc>
              <a:buFont typeface="Arial"/>
              <a:buChar char="•"/>
            </a:pPr>
            <a:r>
              <a:rPr lang="en-US" b="true" sz="1982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Screening &amp; Triage:</a:t>
            </a:r>
            <a:r>
              <a:rPr lang="en-US" sz="1982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4-step wizard → 4 risk levels (Red / Orange / Yellow / Green)</a:t>
            </a:r>
          </a:p>
          <a:p>
            <a:pPr algn="l" marL="428026" indent="-214013" lvl="1">
              <a:lnSpc>
                <a:spcPts val="2577"/>
              </a:lnSpc>
              <a:buFont typeface="Arial"/>
              <a:buChar char="•"/>
            </a:pPr>
            <a:r>
              <a:rPr lang="en-US" b="true" sz="1982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Vitals &amp; Analytics:</a:t>
            </a:r>
            <a:r>
              <a:rPr lang="en-US" sz="1982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Tracking + Smart Merge &amp; Carry-Forward trend charts</a:t>
            </a:r>
          </a:p>
          <a:p>
            <a:pPr algn="l" marL="428026" indent="-214013" lvl="1">
              <a:lnSpc>
                <a:spcPts val="2577"/>
              </a:lnSpc>
              <a:buFont typeface="Arial"/>
              <a:buChar char="•"/>
            </a:pPr>
            <a:r>
              <a:rPr lang="en-US" b="true" sz="1982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Scheduling:</a:t>
            </a:r>
            <a:r>
              <a:rPr lang="en-US" sz="1982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Daily medication alarms &amp; doctor appointment alerts</a:t>
            </a:r>
          </a:p>
          <a:p>
            <a:pPr algn="l" marL="428026" indent="-214013" lvl="1">
              <a:lnSpc>
                <a:spcPts val="2577"/>
              </a:lnSpc>
              <a:buFont typeface="Arial"/>
              <a:buChar char="•"/>
            </a:pPr>
            <a:r>
              <a:rPr lang="en-US" b="true" sz="1982">
                <a:solidFill>
                  <a:srgbClr val="20202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Settings:</a:t>
            </a:r>
            <a:r>
              <a:rPr lang="en-US" sz="1982">
                <a:solidFill>
                  <a:srgbClr val="20202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Profile management &amp; instant VN/EN language toggle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11744" y="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27465" y="328836"/>
            <a:ext cx="1645920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097" y="328836"/>
            <a:ext cx="329184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9550" y="10001250"/>
            <a:ext cx="329184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260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CSE 430 • HEARTHEALTH • 06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933448" y="0"/>
            <a:ext cx="1354552" cy="728620"/>
          </a:xfrm>
          <a:custGeom>
            <a:avLst/>
            <a:gdLst/>
            <a:ahLst/>
            <a:cxnLst/>
            <a:rect r="r" b="b" t="t" l="l"/>
            <a:pathLst>
              <a:path h="728620" w="1354552">
                <a:moveTo>
                  <a:pt x="0" y="0"/>
                </a:moveTo>
                <a:lnTo>
                  <a:pt x="1354552" y="0"/>
                </a:lnTo>
                <a:lnTo>
                  <a:pt x="1354552" y="728620"/>
                </a:lnTo>
                <a:lnTo>
                  <a:pt x="0" y="7286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47721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800" y="1221740"/>
            <a:ext cx="1428750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Activity Flows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800" y="2533650"/>
            <a:ext cx="6191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AUTHENTICATION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6800" y="2839720"/>
            <a:ext cx="714375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gis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/ Rese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Gmail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OTP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S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rver V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rify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800" y="4053205"/>
            <a:ext cx="6191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HEALTH SCREENING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4396423"/>
            <a:ext cx="76200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-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tep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Su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vey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Clinical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Threshold →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4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Risk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Tiers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0" y="2381250"/>
            <a:ext cx="6667500" cy="6191250"/>
            <a:chOff x="0" y="0"/>
            <a:chExt cx="8890000" cy="825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5DCE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8900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0" y="2009775"/>
            <a:ext cx="967811" cy="524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64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9E3458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  <a:p>
            <a:pPr algn="l" marL="0" indent="0" lvl="0">
              <a:lnSpc>
                <a:spcPts val="1064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9E3458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  <a:p>
            <a:pPr algn="l" marL="0" indent="0" lvl="0">
              <a:lnSpc>
                <a:spcPts val="1064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9E3458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  <a:p>
            <a:pPr algn="l" marL="0" indent="0" lvl="0">
              <a:lnSpc>
                <a:spcPts val="1064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9E3458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54811" y="2550478"/>
            <a:ext cx="380678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Authent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tion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254811" y="3855403"/>
            <a:ext cx="5154146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eal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h Sc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eening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254811" y="5163820"/>
            <a:ext cx="426610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Da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ly M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tric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346677" y="6468745"/>
            <a:ext cx="28575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Sch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duli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3999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</a:p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66800" y="5648008"/>
            <a:ext cx="6191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pc="329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D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A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I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L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Y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MET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RI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800" y="6003925"/>
            <a:ext cx="76200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Slid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 In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ut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→ Sm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ar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 Merge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Tre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d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Ch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296150"/>
            <a:ext cx="61912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SC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H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E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DUL</a:t>
            </a:r>
            <a:r>
              <a:rPr lang="en-US" b="true" sz="2199" spc="32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678420"/>
            <a:ext cx="76200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M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tion &amp; Doctor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DB Sav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→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L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ve Da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3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hboard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8700" y="1619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44421" y="490761"/>
            <a:ext cx="1645920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6053" y="490761"/>
            <a:ext cx="329184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07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9815830"/>
            <a:ext cx="329184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260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CSE 430 • HEARTHEALTH • 07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190" y="2661920"/>
            <a:ext cx="3198931" cy="6690488"/>
          </a:xfrm>
          <a:custGeom>
            <a:avLst/>
            <a:gdLst/>
            <a:ahLst/>
            <a:cxnLst/>
            <a:rect r="r" b="b" t="t" l="l"/>
            <a:pathLst>
              <a:path h="6690488" w="3198931">
                <a:moveTo>
                  <a:pt x="0" y="0"/>
                </a:moveTo>
                <a:lnTo>
                  <a:pt x="3198931" y="0"/>
                </a:lnTo>
                <a:lnTo>
                  <a:pt x="3198931" y="6690488"/>
                </a:lnTo>
                <a:lnTo>
                  <a:pt x="0" y="6690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65230" y="2661920"/>
            <a:ext cx="3003762" cy="6690488"/>
          </a:xfrm>
          <a:custGeom>
            <a:avLst/>
            <a:gdLst/>
            <a:ahLst/>
            <a:cxnLst/>
            <a:rect r="r" b="b" t="t" l="l"/>
            <a:pathLst>
              <a:path h="6690488" w="3003762">
                <a:moveTo>
                  <a:pt x="0" y="0"/>
                </a:moveTo>
                <a:lnTo>
                  <a:pt x="3003762" y="0"/>
                </a:lnTo>
                <a:lnTo>
                  <a:pt x="3003762" y="6690488"/>
                </a:lnTo>
                <a:lnTo>
                  <a:pt x="0" y="6690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1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35291" y="2661920"/>
            <a:ext cx="3286900" cy="6690488"/>
          </a:xfrm>
          <a:custGeom>
            <a:avLst/>
            <a:gdLst/>
            <a:ahLst/>
            <a:cxnLst/>
            <a:rect r="r" b="b" t="t" l="l"/>
            <a:pathLst>
              <a:path h="6690488" w="3286900">
                <a:moveTo>
                  <a:pt x="0" y="0"/>
                </a:moveTo>
                <a:lnTo>
                  <a:pt x="3286901" y="0"/>
                </a:lnTo>
                <a:lnTo>
                  <a:pt x="3286901" y="6690488"/>
                </a:lnTo>
                <a:lnTo>
                  <a:pt x="0" y="6690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21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84167" y="2661920"/>
            <a:ext cx="3157389" cy="6690488"/>
          </a:xfrm>
          <a:custGeom>
            <a:avLst/>
            <a:gdLst/>
            <a:ahLst/>
            <a:cxnLst/>
            <a:rect r="r" b="b" t="t" l="l"/>
            <a:pathLst>
              <a:path h="6690488" w="3157389">
                <a:moveTo>
                  <a:pt x="0" y="0"/>
                </a:moveTo>
                <a:lnTo>
                  <a:pt x="3157389" y="0"/>
                </a:lnTo>
                <a:lnTo>
                  <a:pt x="3157389" y="6690488"/>
                </a:lnTo>
                <a:lnTo>
                  <a:pt x="0" y="6690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03531" y="2661920"/>
            <a:ext cx="3191696" cy="6690488"/>
          </a:xfrm>
          <a:custGeom>
            <a:avLst/>
            <a:gdLst/>
            <a:ahLst/>
            <a:cxnLst/>
            <a:rect r="r" b="b" t="t" l="l"/>
            <a:pathLst>
              <a:path h="6690488" w="3191696">
                <a:moveTo>
                  <a:pt x="0" y="0"/>
                </a:moveTo>
                <a:lnTo>
                  <a:pt x="3191696" y="0"/>
                </a:lnTo>
                <a:lnTo>
                  <a:pt x="3191696" y="6690488"/>
                </a:lnTo>
                <a:lnTo>
                  <a:pt x="0" y="6690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94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6800" y="1085850"/>
            <a:ext cx="14287500" cy="157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Results — Authentication &amp; Screening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619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44421" y="490761"/>
            <a:ext cx="1645920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6053" y="490761"/>
            <a:ext cx="329184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831141"/>
            <a:ext cx="329184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260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CSE 430 • HEARTHEALTH • 08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930" y="2833370"/>
            <a:ext cx="2960364" cy="6719764"/>
          </a:xfrm>
          <a:custGeom>
            <a:avLst/>
            <a:gdLst/>
            <a:ahLst/>
            <a:cxnLst/>
            <a:rect r="r" b="b" t="t" l="l"/>
            <a:pathLst>
              <a:path h="6719764" w="2960364">
                <a:moveTo>
                  <a:pt x="0" y="0"/>
                </a:moveTo>
                <a:lnTo>
                  <a:pt x="2960364" y="0"/>
                </a:lnTo>
                <a:lnTo>
                  <a:pt x="2960364" y="6719764"/>
                </a:lnTo>
                <a:lnTo>
                  <a:pt x="0" y="6719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13594" y="2780731"/>
            <a:ext cx="2967330" cy="6808622"/>
          </a:xfrm>
          <a:custGeom>
            <a:avLst/>
            <a:gdLst/>
            <a:ahLst/>
            <a:cxnLst/>
            <a:rect r="r" b="b" t="t" l="l"/>
            <a:pathLst>
              <a:path h="6808622" w="2967330">
                <a:moveTo>
                  <a:pt x="0" y="0"/>
                </a:moveTo>
                <a:lnTo>
                  <a:pt x="2967330" y="0"/>
                </a:lnTo>
                <a:lnTo>
                  <a:pt x="2967330" y="6808622"/>
                </a:lnTo>
                <a:lnTo>
                  <a:pt x="0" y="6808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7" t="0" r="-72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80847" y="2780731"/>
            <a:ext cx="3209694" cy="6808622"/>
          </a:xfrm>
          <a:custGeom>
            <a:avLst/>
            <a:gdLst/>
            <a:ahLst/>
            <a:cxnLst/>
            <a:rect r="r" b="b" t="t" l="l"/>
            <a:pathLst>
              <a:path h="6808622" w="3209694">
                <a:moveTo>
                  <a:pt x="0" y="0"/>
                </a:moveTo>
                <a:lnTo>
                  <a:pt x="3209694" y="0"/>
                </a:lnTo>
                <a:lnTo>
                  <a:pt x="3209694" y="6808622"/>
                </a:lnTo>
                <a:lnTo>
                  <a:pt x="0" y="68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22480" y="2833370"/>
            <a:ext cx="3276141" cy="6755983"/>
          </a:xfrm>
          <a:custGeom>
            <a:avLst/>
            <a:gdLst/>
            <a:ahLst/>
            <a:cxnLst/>
            <a:rect r="r" b="b" t="t" l="l"/>
            <a:pathLst>
              <a:path h="6755983" w="3276141">
                <a:moveTo>
                  <a:pt x="0" y="0"/>
                </a:moveTo>
                <a:lnTo>
                  <a:pt x="3276142" y="0"/>
                </a:lnTo>
                <a:lnTo>
                  <a:pt x="3276142" y="6755983"/>
                </a:lnTo>
                <a:lnTo>
                  <a:pt x="0" y="6755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77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30561" y="2833370"/>
            <a:ext cx="2933915" cy="6719764"/>
          </a:xfrm>
          <a:custGeom>
            <a:avLst/>
            <a:gdLst/>
            <a:ahLst/>
            <a:cxnLst/>
            <a:rect r="r" b="b" t="t" l="l"/>
            <a:pathLst>
              <a:path h="6719764" w="2933915">
                <a:moveTo>
                  <a:pt x="0" y="0"/>
                </a:moveTo>
                <a:lnTo>
                  <a:pt x="2933915" y="0"/>
                </a:lnTo>
                <a:lnTo>
                  <a:pt x="2933915" y="6719764"/>
                </a:lnTo>
                <a:lnTo>
                  <a:pt x="0" y="67197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6" t="-783" r="-32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6800" y="1085850"/>
            <a:ext cx="14287500" cy="157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6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Application Results — Dashboard, Metrics &amp; Scheduling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619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44421" y="490761"/>
            <a:ext cx="1645920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6053" y="490761"/>
            <a:ext cx="329184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779853"/>
            <a:ext cx="329184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260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CSE 430 • HEARTHEALTH • 09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238375"/>
            <a:ext cx="7239000" cy="7288482"/>
            <a:chOff x="0" y="0"/>
            <a:chExt cx="9652000" cy="9717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9717975"/>
            </a:xfrm>
            <a:custGeom>
              <a:avLst/>
              <a:gdLst/>
              <a:ahLst/>
              <a:cxnLst/>
              <a:rect r="r" b="b" t="t" l="l"/>
              <a:pathLst>
                <a:path h="9717975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9717975"/>
                  </a:lnTo>
                  <a:lnTo>
                    <a:pt x="0" y="9717975"/>
                  </a:lnTo>
                  <a:close/>
                </a:path>
              </a:pathLst>
            </a:custGeom>
            <a:solidFill>
              <a:srgbClr val="F5DCE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52000" cy="9756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66800" y="1057275"/>
            <a:ext cx="1428750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0"/>
              </a:lnSpc>
              <a:spcBef>
                <a:spcPct val="0"/>
              </a:spcBef>
            </a:pPr>
            <a:r>
              <a:rPr lang="en-US" b="true" sz="56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 &amp; Future Works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0625" y="2619375"/>
            <a:ext cx="619125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pc="300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BUILT TODAY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3500976"/>
            <a:ext cx="7239000" cy="425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5362" indent="-302681" lvl="1">
              <a:lnSpc>
                <a:spcPts val="42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da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ily 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cking of vit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l 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igns</a:t>
            </a:r>
          </a:p>
          <a:p>
            <a:pPr algn="just" marL="605362" indent="-302681" lvl="1">
              <a:lnSpc>
                <a:spcPts val="42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Real-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ime 4-level risk 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ale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rt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</a:p>
          <a:p>
            <a:pPr algn="just" marL="605362" indent="-302681" lvl="1">
              <a:lnSpc>
                <a:spcPts val="42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Visual Progress charts for peace of mind</a:t>
            </a:r>
          </a:p>
          <a:p>
            <a:pPr algn="just" marL="605362" indent="-302681" lvl="1">
              <a:lnSpc>
                <a:spcPts val="42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mart m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di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ation &amp; docto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 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alarms</a:t>
            </a:r>
          </a:p>
          <a:p>
            <a:pPr algn="just" marL="605362" indent="-302681" lvl="1">
              <a:lnSpc>
                <a:spcPts val="420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Friendly fo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V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etn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mese &amp; En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lish us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803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rs</a:t>
            </a:r>
          </a:p>
          <a:p>
            <a:pPr algn="just" marL="0" indent="0" lvl="0">
              <a:lnSpc>
                <a:spcPts val="4205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443287" y="2238375"/>
            <a:ext cx="7973927" cy="7288482"/>
            <a:chOff x="0" y="0"/>
            <a:chExt cx="10631902" cy="9717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31902" cy="9717975"/>
            </a:xfrm>
            <a:custGeom>
              <a:avLst/>
              <a:gdLst/>
              <a:ahLst/>
              <a:cxnLst/>
              <a:rect r="r" b="b" t="t" l="l"/>
              <a:pathLst>
                <a:path h="9717975" w="10631902">
                  <a:moveTo>
                    <a:pt x="0" y="0"/>
                  </a:moveTo>
                  <a:lnTo>
                    <a:pt x="10631902" y="0"/>
                  </a:lnTo>
                  <a:lnTo>
                    <a:pt x="10631902" y="9717975"/>
                  </a:lnTo>
                  <a:lnTo>
                    <a:pt x="0" y="9717975"/>
                  </a:lnTo>
                  <a:close/>
                </a:path>
              </a:pathLst>
            </a:custGeom>
            <a:solidFill>
              <a:srgbClr val="F5DC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631902" cy="9756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36866" y="2619375"/>
            <a:ext cx="641930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pc="300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NEXT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3287" y="3500976"/>
            <a:ext cx="7973927" cy="477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4" indent="-30226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Wearable Device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Sy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n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 — Blueto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ot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h  conne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ction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with BP cuff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&amp; oximeters</a:t>
            </a:r>
          </a:p>
          <a:p>
            <a:pPr algn="l" marL="604524" indent="-30226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Family &amp; C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ar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egiver Port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al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— Remot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 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pat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nt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monitorin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g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fo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 rel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ati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ves &amp; d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o</a:t>
            </a: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ctors</a:t>
            </a:r>
          </a:p>
          <a:p>
            <a:pPr algn="l" marL="604524" indent="-30226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Offline Storage &amp; Sync — Record vitals offline with automatic background sync</a:t>
            </a:r>
          </a:p>
          <a:p>
            <a:pPr algn="l" marL="604524" indent="-30226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Exportable PDF Summaries — Generate shareable health logs for cardiologist visits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1619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44421" y="490761"/>
            <a:ext cx="1645920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HEARTHEALTH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6053" y="490761"/>
            <a:ext cx="329184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b="true" sz="1592" spc="159">
                <a:solidFill>
                  <a:srgbClr val="E6658A"/>
                </a:solidFill>
                <a:latin typeface="DM Sans Bold"/>
                <a:ea typeface="DM Sans Bold"/>
                <a:cs typeface="DM Sans Bold"/>
                <a:sym typeface="DM Sans Bold"/>
              </a:rPr>
              <a:t>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812607"/>
            <a:ext cx="329184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260">
                <a:solidFill>
                  <a:srgbClr val="D8688F"/>
                </a:solidFill>
                <a:latin typeface="DM Sans Bold"/>
                <a:ea typeface="DM Sans Bold"/>
                <a:cs typeface="DM Sans Bold"/>
                <a:sym typeface="DM Sans Bold"/>
              </a:rPr>
              <a:t>CSE 430 • HEARTHEALTH • 10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DCE4">
                <a:alpha val="6470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66800"/>
            <a:ext cx="10477500" cy="3150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Your heart deserves</a:t>
            </a:r>
          </a:p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the best care —</a:t>
            </a:r>
          </a:p>
          <a:p>
            <a:pPr algn="l" marL="0" indent="0" lvl="0">
              <a:lnSpc>
                <a:spcPts val="828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291C24"/>
                </a:solidFill>
                <a:latin typeface="DM Sans Bold"/>
                <a:ea typeface="DM Sans Bold"/>
                <a:cs typeface="DM Sans Bold"/>
                <a:sym typeface="DM Sans Bold"/>
              </a:rPr>
              <a:t>anytime, anywhere.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10388"/>
            <a:ext cx="85725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419" strike="noStrike" u="non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THANK YOU  / ANY QUESTIONS?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44300" y="0"/>
            <a:ext cx="6743700" cy="10287000"/>
            <a:chOff x="0" y="0"/>
            <a:chExt cx="1044776" cy="1593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4776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44776">
                  <a:moveTo>
                    <a:pt x="0" y="0"/>
                  </a:moveTo>
                  <a:lnTo>
                    <a:pt x="1044776" y="0"/>
                  </a:lnTo>
                  <a:lnTo>
                    <a:pt x="104477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6519" t="0" r="-2651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8743950"/>
            <a:ext cx="104775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450" b="true">
                <a:solidFill>
                  <a:srgbClr val="9E3458"/>
                </a:solidFill>
                <a:latin typeface="Aptos Bold"/>
                <a:ea typeface="Aptos Bold"/>
                <a:cs typeface="Aptos Bold"/>
                <a:sym typeface="Aptos Bold"/>
              </a:rPr>
              <a:t>Eastern International University  —  August 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933448" y="0"/>
            <a:ext cx="1354552" cy="1076325"/>
          </a:xfrm>
          <a:custGeom>
            <a:avLst/>
            <a:gdLst/>
            <a:ahLst/>
            <a:cxnLst/>
            <a:rect r="r" b="b" t="t" l="l"/>
            <a:pathLst>
              <a:path h="1076325" w="1354552">
                <a:moveTo>
                  <a:pt x="0" y="0"/>
                </a:moveTo>
                <a:lnTo>
                  <a:pt x="1354552" y="0"/>
                </a:lnTo>
                <a:lnTo>
                  <a:pt x="1354552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DAHSuCpDm2Y</dc:identifier>
  <dcterms:modified xsi:type="dcterms:W3CDTF">2011-08-01T06:04:30Z</dcterms:modified>
  <cp:revision>1</cp:revision>
  <dc:title>Revised Slide Deck Preview</dc:title>
</cp:coreProperties>
</file>